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SMART INDIA HACKATHON 2026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IDEA SUBMISSION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200" b="1">
                <a:solidFill>
                  <a:srgbClr val="107C41"/>
                </a:solidFill>
              </a:defRPr>
            </a:pPr>
            <a:r>
              <a:t>TERRA SHIELD - AI-Powered Landslide Risk Monitoring &amp; Early Warning System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Problem Statement ID: </a:t>
            </a:r>
            <a:r>
              <a:rPr b="0">
                <a:solidFill>
                  <a:srgbClr val="23272A"/>
                </a:solidFill>
                <a:latin typeface="Arial"/>
              </a:rPr>
              <a:t>SIH26001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Problem Statement Title: </a:t>
            </a:r>
            <a:r>
              <a:rPr b="0">
                <a:solidFill>
                  <a:srgbClr val="23272A"/>
                </a:solidFill>
                <a:latin typeface="Arial"/>
              </a:rPr>
              <a:t>AI-Powered Landslide Risk Monitoring &amp; Early Warning System for Mountainous Terrains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Theme: </a:t>
            </a:r>
            <a:r>
              <a:rPr b="0">
                <a:solidFill>
                  <a:srgbClr val="23272A"/>
                </a:solidFill>
                <a:latin typeface="Arial"/>
              </a:rPr>
              <a:t>Disaster Management &amp; Environmental Protection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PS Category: </a:t>
            </a:r>
            <a:r>
              <a:rPr b="0">
                <a:solidFill>
                  <a:srgbClr val="23272A"/>
                </a:solidFill>
                <a:latin typeface="Arial"/>
              </a:rPr>
              <a:t>Software / Hardware Hybrid Prototype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Team Name: </a:t>
            </a:r>
            <a:r>
              <a:rPr b="0">
                <a:solidFill>
                  <a:srgbClr val="23272A"/>
                </a:solidFill>
                <a:latin typeface="Arial"/>
              </a:rPr>
              <a:t>NullVerse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Team ID: </a:t>
            </a:r>
            <a:r>
              <a:rPr b="0">
                <a:solidFill>
                  <a:srgbClr val="23272A"/>
                </a:solidFill>
                <a:latin typeface="Arial"/>
              </a:rPr>
              <a:t>SIH2026-NULLVERSE-001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PROPOSED SOLUTION: TERRA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D7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94360"/>
            <a:ext cx="2011680" cy="3200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Team: NullVerse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2A4A"/>
                </a:solidFill>
              </a:defRPr>
            </a:pPr>
            <a:r>
              <a:t>End-to-End Solution Overview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Real-Time Telemetry Ingestion: </a:t>
            </a:r>
            <a:r>
              <a:rPr b="0">
                <a:solidFill>
                  <a:srgbClr val="23272A"/>
                </a:solidFill>
                <a:latin typeface="Arial"/>
              </a:rPr>
              <a:t>Ingests live multi-station IoT sensor metrics (Rainfall, Slope Angle, Soil Moisture, Displacement, Temperature).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2-Layer Hybrid Risk Engine: </a:t>
            </a:r>
            <a:r>
              <a:rPr b="0">
                <a:solidFill>
                  <a:srgbClr val="23272A"/>
                </a:solidFill>
                <a:latin typeface="Arial"/>
              </a:rPr>
              <a:t>Combines ML Random Forest classification with deterministic Physical Safety Rules override.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Geographic GIS Overlay: </a:t>
            </a:r>
            <a:r>
              <a:rPr b="0">
                <a:solidFill>
                  <a:srgbClr val="23272A"/>
                </a:solidFill>
                <a:latin typeface="Arial"/>
              </a:rPr>
              <a:t>OpenStreetMap Leaflet GIS console with station risk markers, hazard radius zones, and search.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Zero-Cost Free Infrastructure: </a:t>
            </a:r>
            <a:r>
              <a:rPr b="0">
                <a:solidFill>
                  <a:srgbClr val="23272A"/>
                </a:solidFill>
                <a:latin typeface="Arial"/>
              </a:rPr>
              <a:t>Operates entirely on 100% free open APIs (Leaflet OSM, Open-Meteo weather, Nominatim reverse geocoding).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7C41"/>
                </a:solidFill>
              </a:defRPr>
            </a:pPr>
            <a:r>
              <a:t>Innovation &amp; Uniqueness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Safety Threshold Escalation: </a:t>
            </a:r>
            <a:r>
              <a:rPr b="0">
                <a:solidFill>
                  <a:srgbClr val="23272A"/>
                </a:solidFill>
                <a:latin typeface="Arial"/>
              </a:rPr>
              <a:t>Physical rules (e.g. heavy rain + active ground movement) strictly escalate ML predictions, eliminating false low-risk output.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Live Feature Contribution: </a:t>
            </a:r>
            <a:r>
              <a:rPr b="0">
                <a:solidFill>
                  <a:srgbClr val="23272A"/>
                </a:solidFill>
                <a:latin typeface="Arial"/>
              </a:rPr>
              <a:t>Offers full explainability by breaking down percentage contributions for each environmental factor.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Live Weather &amp; Geocoding: </a:t>
            </a:r>
            <a:r>
              <a:rPr b="0">
                <a:solidFill>
                  <a:srgbClr val="23272A"/>
                </a:solidFill>
                <a:latin typeface="Arial"/>
              </a:rPr>
              <a:t>Integrates Open-Meteo atmospheric forecast and Nominatim reverse geocoding for any clicked terrain point.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Zero API Key Requirement: </a:t>
            </a:r>
            <a:r>
              <a:rPr b="0">
                <a:solidFill>
                  <a:srgbClr val="23272A"/>
                </a:solidFill>
                <a:latin typeface="Arial"/>
              </a:rPr>
              <a:t>Deploys frictionlessly without requiring paid cloud mapping keys or expensive proprietary subscriptions.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TECHNICAL APPROACH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D7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94360"/>
            <a:ext cx="2011680" cy="3200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Team: NullVerse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2A4A"/>
                </a:solidFill>
              </a:defRPr>
            </a:pPr>
            <a:r>
              <a:t>Technology Stack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Frontend UI Console: </a:t>
            </a:r>
            <a:r>
              <a:rPr b="0">
                <a:solidFill>
                  <a:srgbClr val="23272A"/>
                </a:solidFill>
                <a:latin typeface="Arial"/>
              </a:rPr>
              <a:t>React 18, Vite 5, Tailwind CSS, Lucide Icons, Recharts Analytics, Leaflet GIS.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Backend REST API: </a:t>
            </a:r>
            <a:r>
              <a:rPr b="0">
                <a:solidFill>
                  <a:srgbClr val="23272A"/>
                </a:solidFill>
                <a:latin typeface="Arial"/>
              </a:rPr>
              <a:t>Python 3.14, Flask, Flask-CORS, SQLite Database engine.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Machine Learning: </a:t>
            </a:r>
            <a:r>
              <a:rPr b="0">
                <a:solidFill>
                  <a:srgbClr val="23272A"/>
                </a:solidFill>
                <a:latin typeface="Arial"/>
              </a:rPr>
              <a:t>Scikit-Learn Random Forest Classifier, Pandas, NumPy, Joblib model persistence.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IoT Telemetry Ingestion: </a:t>
            </a:r>
            <a:r>
              <a:rPr b="0">
                <a:solidFill>
                  <a:srgbClr val="23272A"/>
                </a:solidFill>
                <a:latin typeface="Arial"/>
              </a:rPr>
              <a:t>Python Requests, ESP32 sensor simulator supporting NORMAL, WARNING, CRITICAL, FAULT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7C41"/>
                </a:solidFill>
              </a:defRPr>
            </a:pPr>
            <a:r>
              <a:t>End-to-End Execution Flow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1. Ingestion &amp; Sanitization: </a:t>
            </a:r>
            <a:r>
              <a:rPr b="0">
                <a:solidFill>
                  <a:srgbClr val="23272A"/>
                </a:solidFill>
                <a:latin typeface="Arial"/>
              </a:rPr>
              <a:t>IoT Edge Nodes transmit telemetry to POST /api/sensor-data; values validated against physical physical bounds.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2. ML Inference &amp; Rules: </a:t>
            </a:r>
            <a:r>
              <a:rPr b="0">
                <a:solidFill>
                  <a:srgbClr val="23272A"/>
                </a:solidFill>
                <a:latin typeface="Arial"/>
              </a:rPr>
              <a:t>Random Forest computes probability scores; deterministic rules check displacement thresholds.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3. Risk Classification: </a:t>
            </a:r>
            <a:r>
              <a:rPr b="0">
                <a:solidFill>
                  <a:srgbClr val="23272A"/>
                </a:solidFill>
                <a:latin typeface="Arial"/>
              </a:rPr>
              <a:t>Outputs unified status (LOW, MODERATE, HIGH, CRITICAL) with safety override alerts.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4. Real-Time Visualization: </a:t>
            </a:r>
            <a:r>
              <a:rPr b="0">
                <a:solidFill>
                  <a:srgbClr val="23272A"/>
                </a:solidFill>
                <a:latin typeface="Arial"/>
              </a:rPr>
              <a:t>Pushes alerts to React Dashboard, OpenStreetMap risk zones, and exports CSV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FEASIBILITY AND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D7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94360"/>
            <a:ext cx="2011680" cy="3200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Team: NullVerse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F2A4A"/>
                </a:solidFill>
              </a:defRPr>
            </a:pPr>
            <a:r>
              <a:t>Feasibility Analysis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Low Hardware Cost: </a:t>
            </a:r>
            <a:r>
              <a:rPr b="0">
                <a:solidFill>
                  <a:srgbClr val="23272A"/>
                </a:solidFill>
                <a:latin typeface="Arial"/>
              </a:rPr>
              <a:t>Utilizes off-the-shelf ESP32 microcontrollers and rain/inclinometer sensors (~₹3,500 per station).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Zero Software Licensing: </a:t>
            </a:r>
            <a:r>
              <a:rPr b="0">
                <a:solidFill>
                  <a:srgbClr val="23272A"/>
                </a:solidFill>
                <a:latin typeface="Arial"/>
              </a:rPr>
              <a:t>Built entirely on open-source frameworks (React, Flask, Scikit-learn, SQLite).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Scalable Architecture: </a:t>
            </a:r>
            <a:r>
              <a:rPr b="0">
                <a:solidFill>
                  <a:srgbClr val="23272A"/>
                </a:solidFill>
                <a:latin typeface="Arial"/>
              </a:rPr>
              <a:t>Supports seamless addition of monitoring nodes across mountain highway corridors.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E05624"/>
                </a:solidFill>
              </a:defRPr>
            </a:pPr>
            <a:r>
              <a:t>Challenges &amp; Risks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Network Blackouts: </a:t>
            </a:r>
            <a:r>
              <a:rPr b="0">
                <a:solidFill>
                  <a:srgbClr val="23272A"/>
                </a:solidFill>
                <a:latin typeface="Arial"/>
              </a:rPr>
              <a:t>Remote mountain terrains frequently experience cellular network loss during severe storms.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Sensor Noise &amp; Drift: </a:t>
            </a:r>
            <a:r>
              <a:rPr b="0">
                <a:solidFill>
                  <a:srgbClr val="23272A"/>
                </a:solidFill>
                <a:latin typeface="Arial"/>
              </a:rPr>
              <a:t>Vibrations from heavy road vehicles can cause transient displacement spikes.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Extreme Power Draw: </a:t>
            </a:r>
            <a:r>
              <a:rPr b="0">
                <a:solidFill>
                  <a:srgbClr val="23272A"/>
                </a:solidFill>
                <a:latin typeface="Arial"/>
              </a:rPr>
              <a:t>Continuous sensor operation risks battery depletion during heavy cloud cover.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80160"/>
            <a:ext cx="34747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107C41"/>
                </a:solidFill>
              </a:defRPr>
            </a:pPr>
            <a:r>
              <a:t>Mitigation Strategies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Local Flash Buffering: </a:t>
            </a:r>
            <a:r>
              <a:rPr b="0">
                <a:solidFill>
                  <a:srgbClr val="23272A"/>
                </a:solidFill>
                <a:latin typeface="Arial"/>
              </a:rPr>
              <a:t>Edge nodes store unsent readings locally during outage and auto-sync upon reconnecting.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Input Validation Layer: </a:t>
            </a:r>
            <a:r>
              <a:rPr b="0">
                <a:solidFill>
                  <a:srgbClr val="23272A"/>
                </a:solidFill>
                <a:latin typeface="Arial"/>
              </a:rPr>
              <a:t>Backend bounds validation sanitizes noisy data before passing it to the ML predictor.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Solar Power + Sleep Mode: </a:t>
            </a:r>
            <a:r>
              <a:rPr b="0">
                <a:solidFill>
                  <a:srgbClr val="23272A"/>
                </a:solidFill>
                <a:latin typeface="Arial"/>
              </a:rPr>
              <a:t>Solar micro-panels with adaptive deep-sleep polling extend battery life to 30+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IMPACT AND SOCIETAL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D7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94360"/>
            <a:ext cx="2011680" cy="3200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Team: NullVerse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4415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0F2A4A"/>
                </a:solidFill>
              </a:defRPr>
            </a:pPr>
            <a:r>
              <a:t>Target Beneficiaries &amp; User Groups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Disaster Management Authorities: </a:t>
            </a:r>
            <a:r>
              <a:rPr b="0">
                <a:solidFill>
                  <a:srgbClr val="23272A"/>
                </a:solidFill>
                <a:latin typeface="Arial"/>
              </a:rPr>
              <a:t>NDMA, State Disaster Management Authorities (SDMA), and District Collectors for rapid alert dispatch.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Infrastructure &amp; Highways: </a:t>
            </a:r>
            <a:r>
              <a:rPr b="0">
                <a:solidFill>
                  <a:srgbClr val="23272A"/>
                </a:solidFill>
                <a:latin typeface="Arial"/>
              </a:rPr>
              <a:t>Border Roads Organisation (BRO), NHAI, and railway operators for proactive road blockades.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Mountain Communities: </a:t>
            </a:r>
            <a:r>
              <a:rPr b="0">
                <a:solidFill>
                  <a:srgbClr val="23272A"/>
                </a:solidFill>
                <a:latin typeface="Arial"/>
              </a:rPr>
              <a:t>Local residents, tourists, and commercial transport drivers in high-risk hill regions.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1109441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800" b="1">
                <a:solidFill>
                  <a:srgbClr val="107C41"/>
                </a:solidFill>
              </a:defRPr>
            </a:pPr>
            <a:r>
              <a:t>Multi-Dimensional Impact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Social Impact (Life Safety): </a:t>
            </a:r>
            <a:r>
              <a:rPr b="0">
                <a:solidFill>
                  <a:srgbClr val="23272A"/>
                </a:solidFill>
                <a:latin typeface="Arial"/>
              </a:rPr>
              <a:t>Provides crucial 30–60 minute early warning lead time, allowing safe evacuation and minimizing casualties.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Economic Protection: </a:t>
            </a:r>
            <a:r>
              <a:rPr b="0">
                <a:solidFill>
                  <a:srgbClr val="23272A"/>
                </a:solidFill>
                <a:latin typeface="Arial"/>
              </a:rPr>
              <a:t>Prevents vehicular damage, reduces highway closure durations, and protects hill economy logistics.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Environmental Intelligence: </a:t>
            </a:r>
            <a:r>
              <a:rPr b="0">
                <a:solidFill>
                  <a:srgbClr val="23272A"/>
                </a:solidFill>
                <a:latin typeface="Arial"/>
              </a:rPr>
              <a:t>Aggregates long-term slope deformation and precipitation trends for regional disaster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828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D700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594360"/>
            <a:ext cx="2011680" cy="320040"/>
          </a:xfrm>
          <a:prstGeom prst="round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Team: NullVerse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441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F2A4A"/>
                </a:solidFill>
              </a:defRPr>
            </a:pPr>
            <a:r>
              <a:t>Research Foundation &amp; Standards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Geotechnical Standards: </a:t>
            </a:r>
            <a:r>
              <a:rPr b="0">
                <a:solidFill>
                  <a:srgbClr val="23272A"/>
                </a:solidFill>
                <a:latin typeface="Arial"/>
              </a:rPr>
              <a:t>Geological Survey of India (GSI) Landslide Susceptibility Mapping Guidelines &amp; Rainfall Threshold Models.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Machine Learning Literature: </a:t>
            </a:r>
            <a:r>
              <a:rPr b="0">
                <a:solidFill>
                  <a:srgbClr val="23272A"/>
                </a:solidFill>
                <a:latin typeface="Arial"/>
              </a:rPr>
              <a:t>Scikit-Learn Random Forest Classifier benchmarks for environmental telemetry anomaly detection.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Open Spatial &amp; Weather APIs: </a:t>
            </a:r>
            <a:r>
              <a:rPr b="0">
                <a:solidFill>
                  <a:srgbClr val="23272A"/>
                </a:solidFill>
                <a:latin typeface="Arial"/>
              </a:rPr>
              <a:t>OpenStreetMap Leaflet GIS standards &amp; Open-Meteo WMO weather code classification API.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Disaster Management Frameworks: </a:t>
            </a:r>
            <a:r>
              <a:rPr b="0">
                <a:solidFill>
                  <a:srgbClr val="23272A"/>
                </a:solidFill>
                <a:latin typeface="Arial"/>
              </a:rPr>
              <a:t>National Disaster Management Authority (NDMA) National Landslide Risk Management Strategy (2019).</a:t>
            </a:r>
          </a:p>
          <a:p>
            <a:pPr>
              <a:spcAft>
                <a:spcPts val="1200"/>
              </a:spcAft>
              <a:defRPr sz="1600"/>
            </a:pPr>
            <a:r>
              <a:rPr b="1">
                <a:solidFill>
                  <a:srgbClr val="0F2A4A"/>
                </a:solidFill>
                <a:latin typeface="Arial"/>
              </a:rPr>
              <a:t>• Source Code Repository: </a:t>
            </a:r>
            <a:r>
              <a:rPr b="0">
                <a:solidFill>
                  <a:srgbClr val="23272A"/>
                </a:solidFill>
                <a:latin typeface="Arial"/>
              </a:rPr>
              <a:t>Complete end-to-end working prototype source code: Terra Shield SIH Hackathon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